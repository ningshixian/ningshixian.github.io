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79" r:id="rId5"/>
    <p:sldId id="264" r:id="rId6"/>
    <p:sldId id="266" r:id="rId7"/>
    <p:sldId id="267" r:id="rId8"/>
    <p:sldId id="268" r:id="rId9"/>
    <p:sldId id="269" r:id="rId10"/>
    <p:sldId id="260" r:id="rId11"/>
    <p:sldId id="280" r:id="rId12"/>
    <p:sldId id="265" r:id="rId13"/>
    <p:sldId id="276" r:id="rId14"/>
    <p:sldId id="277" r:id="rId15"/>
    <p:sldId id="281" r:id="rId16"/>
    <p:sldId id="270" r:id="rId17"/>
    <p:sldId id="271" r:id="rId18"/>
    <p:sldId id="272" r:id="rId19"/>
    <p:sldId id="273" r:id="rId20"/>
    <p:sldId id="274" r:id="rId21"/>
    <p:sldId id="275" r:id="rId22"/>
    <p:sldId id="259" r:id="rId23"/>
  </p:sldIdLst>
  <p:sldSz cx="11520488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894"/>
    <a:srgbClr val="01B2B3"/>
    <a:srgbClr val="B48855"/>
    <a:srgbClr val="E6E6E7"/>
    <a:srgbClr val="24A7E1"/>
    <a:srgbClr val="C9C9CA"/>
    <a:srgbClr val="6EB92B"/>
    <a:srgbClr val="9CC813"/>
    <a:srgbClr val="005BAC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524" y="40"/>
      </p:cViewPr>
      <p:guideLst>
        <p:guide orient="horz" pos="2041"/>
        <p:guide pos="36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BEF38-2BB4-4D24-A1FE-F3AC959F1CA1}" type="datetimeFigureOut">
              <a:rPr lang="zh-CN" altLang="en-US" smtClean="0"/>
              <a:t>2020/9/14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C888D-7723-4ECC-AEFB-A268C9431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27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要把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A/B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测试和测试区分开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C888D-7723-4ECC-AEFB-A268C94314B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3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05" y="1759105"/>
            <a:ext cx="10150825" cy="3724995"/>
          </a:xfrm>
          <a:prstGeom prst="rect">
            <a:avLst/>
          </a:prstGeom>
        </p:spPr>
      </p:pic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2015828" y="2343761"/>
            <a:ext cx="8046335" cy="1112350"/>
          </a:xfrm>
        </p:spPr>
        <p:txBody>
          <a:bodyPr>
            <a:noAutofit/>
          </a:bodyPr>
          <a:lstStyle>
            <a:lvl1pPr marL="0" indent="0" algn="r">
              <a:buNone/>
              <a:defRPr sz="7200" b="1" baseline="0">
                <a:solidFill>
                  <a:srgbClr val="02389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zh-CN" altLang="en-US" dirty="0" smtClean="0"/>
              <a:t>正文标题替换区域</a:t>
            </a:r>
            <a:endParaRPr lang="zh-CN" altLang="en-US" dirty="0"/>
          </a:p>
        </p:txBody>
      </p:sp>
      <p:sp>
        <p:nvSpPr>
          <p:cNvPr id="9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725459" y="3689845"/>
            <a:ext cx="6336704" cy="593774"/>
          </a:xfrm>
        </p:spPr>
        <p:txBody>
          <a:bodyPr>
            <a:noAutofit/>
          </a:bodyPr>
          <a:lstStyle>
            <a:lvl1pPr marL="0" indent="0" algn="r">
              <a:buNone/>
              <a:defRPr sz="3600" baseline="0">
                <a:solidFill>
                  <a:srgbClr val="01B2B3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zh-CN" altLang="en-US" dirty="0" smtClean="0"/>
              <a:t>二级标题替换区域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00" y="575791"/>
            <a:ext cx="2694643" cy="1165794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649980" y="6311607"/>
            <a:ext cx="10222832" cy="168567"/>
          </a:xfrm>
          <a:prstGeom prst="rect">
            <a:avLst/>
          </a:prstGeom>
          <a:solidFill>
            <a:srgbClr val="0238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529" y="5602737"/>
            <a:ext cx="1845804" cy="59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71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431652" y="575791"/>
            <a:ext cx="10801200" cy="0"/>
          </a:xfrm>
          <a:prstGeom prst="line">
            <a:avLst/>
          </a:prstGeom>
          <a:ln w="9525">
            <a:solidFill>
              <a:srgbClr val="02389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44" y="648534"/>
            <a:ext cx="10908816" cy="536085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59644" y="6048399"/>
            <a:ext cx="10800506" cy="431776"/>
          </a:xfrm>
          <a:prstGeom prst="rect">
            <a:avLst/>
          </a:prstGeom>
          <a:solidFill>
            <a:srgbClr val="0238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03660" y="143743"/>
            <a:ext cx="5400600" cy="288032"/>
          </a:xfrm>
        </p:spPr>
        <p:txBody>
          <a:bodyPr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zh-CN" altLang="en-US" dirty="0" smtClean="0"/>
              <a:t>目录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60" y="6104527"/>
            <a:ext cx="1605210" cy="319520"/>
          </a:xfrm>
          <a:prstGeom prst="rect">
            <a:avLst/>
          </a:prstGeom>
        </p:spPr>
      </p:pic>
      <p:sp>
        <p:nvSpPr>
          <p:cNvPr id="32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728796" y="6097927"/>
            <a:ext cx="431354" cy="283781"/>
          </a:xfrm>
        </p:spPr>
        <p:txBody>
          <a:bodyPr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769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44" y="648534"/>
            <a:ext cx="10908816" cy="536085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59644" y="6048399"/>
            <a:ext cx="10800506" cy="431776"/>
          </a:xfrm>
          <a:prstGeom prst="rect">
            <a:avLst/>
          </a:prstGeom>
          <a:solidFill>
            <a:srgbClr val="0238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431652" y="575791"/>
            <a:ext cx="10801200" cy="0"/>
          </a:xfrm>
          <a:prstGeom prst="line">
            <a:avLst/>
          </a:prstGeom>
          <a:ln w="9525">
            <a:solidFill>
              <a:srgbClr val="02389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7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03660" y="143743"/>
            <a:ext cx="5400600" cy="288032"/>
          </a:xfrm>
        </p:spPr>
        <p:txBody>
          <a:bodyPr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zh-CN" altLang="en-US" dirty="0" smtClean="0"/>
              <a:t>内文标题替换区域</a:t>
            </a:r>
            <a:endParaRPr lang="zh-CN" altLang="en-US" dirty="0"/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60" y="6104527"/>
            <a:ext cx="1605210" cy="319520"/>
          </a:xfrm>
          <a:prstGeom prst="rect">
            <a:avLst/>
          </a:prstGeom>
        </p:spPr>
      </p:pic>
      <p:sp>
        <p:nvSpPr>
          <p:cNvPr id="42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728796" y="6097927"/>
            <a:ext cx="431354" cy="283781"/>
          </a:xfrm>
        </p:spPr>
        <p:txBody>
          <a:bodyPr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40864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386469" y="2592015"/>
            <a:ext cx="10729192" cy="3888160"/>
          </a:xfrm>
          <a:prstGeom prst="rect">
            <a:avLst/>
          </a:prstGeom>
          <a:solidFill>
            <a:srgbClr val="0238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76" y="2880047"/>
            <a:ext cx="10153128" cy="360896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228" y="618933"/>
            <a:ext cx="3663286" cy="13837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804" y="506948"/>
            <a:ext cx="1520857" cy="1495725"/>
          </a:xfrm>
          <a:prstGeom prst="rect">
            <a:avLst/>
          </a:prstGeom>
        </p:spPr>
      </p:pic>
      <p:sp>
        <p:nvSpPr>
          <p:cNvPr id="12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2721643" y="3744143"/>
            <a:ext cx="6557871" cy="1224136"/>
          </a:xfrm>
        </p:spPr>
        <p:txBody>
          <a:bodyPr>
            <a:noAutofit/>
          </a:bodyPr>
          <a:lstStyle>
            <a:lvl1pPr marL="0" indent="0" algn="l">
              <a:buNone/>
              <a:defRPr sz="10000" b="1" baseline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 smtClean="0"/>
              <a:t>谢谢收看！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223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1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0728796" y="6097927"/>
            <a:ext cx="431354" cy="283781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95987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6A628-05F4-4BD1-9FE1-5BD5A4F67CD5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908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5E4-78AE-4C53-A579-E73668CDF774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2541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B9E3-F278-47A1-AE0F-16B1003CE6A8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064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DA06-F424-4763-8059-80E3D3166644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4328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E8F-AF82-4330-9D5C-D1F54DAD93C6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802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A9C4-F413-4CEA-8DBC-4032A343B417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8481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1EE3D-0701-49FC-941D-AFCECE715E77}" type="slidenum">
              <a:rPr lang="zh-CN" altLang="zh-CN" smtClean="0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56758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5" r:id="rId4"/>
    <p:sldLayoutId id="2147483673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question/20045543" TargetMode="External"/><Relationship Id="rId2" Type="http://schemas.openxmlformats.org/officeDocument/2006/relationships/hyperlink" Target="https://cloud.tencent.com/developer/article/149630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leapoahead.com/2015/08/27/introduction-to-ab-testing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A/B</a:t>
            </a:r>
            <a:r>
              <a:rPr lang="zh-CN" altLang="en-US" dirty="0" smtClean="0"/>
              <a:t>测试技术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28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0545" y="1033397"/>
            <a:ext cx="54305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是什么</a:t>
            </a:r>
            <a:endParaRPr lang="en-US" altLang="zh-CN" b="1" dirty="0" smtClean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  <a:endParaRPr lang="en-US" altLang="zh-CN" b="1" dirty="0" smtClean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的目的是什么</a:t>
            </a:r>
            <a:endParaRPr lang="en-US" altLang="zh-CN" b="1" dirty="0" smtClean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流程</a:t>
            </a:r>
            <a:endParaRPr lang="en-US" altLang="zh-CN" b="1" dirty="0" smtClean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简例（结合</a:t>
            </a: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  <a:r>
              <a:rPr lang="zh-CN" altLang="en-US" b="1" dirty="0" smtClean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 dirty="0" smtClean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需要注意的</a:t>
            </a:r>
            <a:r>
              <a:rPr lang="zh-CN" altLang="en-US" b="1" dirty="0" smtClean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endParaRPr lang="en-US" altLang="zh-CN" b="1" dirty="0" smtClean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b="1" dirty="0">
                <a:solidFill>
                  <a:srgbClr val="02389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中要知道的统计学知识</a:t>
            </a:r>
            <a:endParaRPr lang="en-US" altLang="zh-CN" b="1" dirty="0">
              <a:solidFill>
                <a:srgbClr val="02389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559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 smtClean="0"/>
              <a:t>A/B</a:t>
            </a:r>
            <a:r>
              <a:rPr lang="zh-CN" altLang="en-US" dirty="0" smtClean="0"/>
              <a:t>测试起源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294" y="1516062"/>
            <a:ext cx="91059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7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01 </a:t>
            </a:r>
            <a:r>
              <a:rPr lang="en-US" altLang="zh-CN" dirty="0" smtClean="0"/>
              <a:t>A/B</a:t>
            </a:r>
            <a:r>
              <a:rPr lang="zh-CN" altLang="en-US" dirty="0" smtClean="0"/>
              <a:t>测试是什么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18789" y="1799927"/>
            <a:ext cx="7469242" cy="277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对于一般的 </a:t>
            </a:r>
            <a:r>
              <a:rPr lang="en-US" altLang="zh-CN" sz="2400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ABTest</a:t>
            </a: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实验，其实本质上就是把平台的流量均匀分为几个组，每个组添加不同的策略，然后根据这几个组的用户数据指标，例如：留存、人均观看时长、基础互动率等等核心指标，最终选择一个最好的组上线。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object 2"/>
          <p:cNvSpPr/>
          <p:nvPr/>
        </p:nvSpPr>
        <p:spPr>
          <a:xfrm>
            <a:off x="503660" y="3024063"/>
            <a:ext cx="2026920" cy="637540"/>
          </a:xfrm>
          <a:custGeom>
            <a:avLst/>
            <a:gdLst/>
            <a:ahLst/>
            <a:cxnLst/>
            <a:rect l="l" t="t" r="r" b="b"/>
            <a:pathLst>
              <a:path w="2026920" h="637539">
                <a:moveTo>
                  <a:pt x="1920748" y="0"/>
                </a:moveTo>
                <a:lnTo>
                  <a:pt x="106172" y="0"/>
                </a:lnTo>
                <a:lnTo>
                  <a:pt x="64845" y="8338"/>
                </a:lnTo>
                <a:lnTo>
                  <a:pt x="31097" y="31083"/>
                </a:lnTo>
                <a:lnTo>
                  <a:pt x="8343" y="64829"/>
                </a:lnTo>
                <a:lnTo>
                  <a:pt x="0" y="106171"/>
                </a:lnTo>
                <a:lnTo>
                  <a:pt x="0" y="530860"/>
                </a:lnTo>
                <a:lnTo>
                  <a:pt x="8343" y="572186"/>
                </a:lnTo>
                <a:lnTo>
                  <a:pt x="31097" y="605934"/>
                </a:lnTo>
                <a:lnTo>
                  <a:pt x="64845" y="628688"/>
                </a:lnTo>
                <a:lnTo>
                  <a:pt x="106172" y="637032"/>
                </a:lnTo>
                <a:lnTo>
                  <a:pt x="1920748" y="637032"/>
                </a:lnTo>
                <a:lnTo>
                  <a:pt x="1962090" y="628688"/>
                </a:lnTo>
                <a:lnTo>
                  <a:pt x="1995836" y="605934"/>
                </a:lnTo>
                <a:lnTo>
                  <a:pt x="2018581" y="572186"/>
                </a:lnTo>
                <a:lnTo>
                  <a:pt x="2026920" y="530860"/>
                </a:lnTo>
                <a:lnTo>
                  <a:pt x="2026920" y="106171"/>
                </a:lnTo>
                <a:lnTo>
                  <a:pt x="2018581" y="64829"/>
                </a:lnTo>
                <a:lnTo>
                  <a:pt x="1995836" y="31083"/>
                </a:lnTo>
                <a:lnTo>
                  <a:pt x="1962090" y="8338"/>
                </a:lnTo>
                <a:lnTo>
                  <a:pt x="1920748" y="0"/>
                </a:lnTo>
                <a:close/>
              </a:path>
            </a:pathLst>
          </a:custGeom>
          <a:solidFill>
            <a:srgbClr val="8E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"/>
          <p:cNvSpPr txBox="1"/>
          <p:nvPr/>
        </p:nvSpPr>
        <p:spPr>
          <a:xfrm>
            <a:off x="872594" y="3109154"/>
            <a:ext cx="128778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95" dirty="0">
                <a:solidFill>
                  <a:srgbClr val="0C1222"/>
                </a:solidFill>
                <a:latin typeface="WenQuanYi Micro Hei"/>
                <a:cs typeface="WenQuanYi Micro Hei"/>
              </a:rPr>
              <a:t>AB</a:t>
            </a:r>
            <a:r>
              <a:rPr sz="3200" spc="-10" dirty="0">
                <a:solidFill>
                  <a:srgbClr val="0C1222"/>
                </a:solidFill>
                <a:latin typeface="WenQuanYi Micro Hei"/>
                <a:cs typeface="WenQuanYi Micro Hei"/>
              </a:rPr>
              <a:t>测试</a:t>
            </a:r>
            <a:endParaRPr sz="3200" dirty="0">
              <a:latin typeface="WenQuanYi Micro Hei"/>
              <a:cs typeface="WenQuanYi Micro Hei"/>
            </a:endParaRPr>
          </a:p>
        </p:txBody>
      </p:sp>
    </p:spTree>
    <p:extLst>
      <p:ext uri="{BB962C8B-B14F-4D97-AF65-F5344CB8AC3E}">
        <p14:creationId xmlns:p14="http://schemas.microsoft.com/office/powerpoint/2010/main" val="283563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关于定义的认知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44" y="1015999"/>
            <a:ext cx="92964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7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02 A/B test</a:t>
            </a:r>
            <a:r>
              <a:rPr lang="zh-CN" altLang="en-US" b="1" dirty="0"/>
              <a:t>工作</a:t>
            </a:r>
            <a:r>
              <a:rPr lang="zh-CN" altLang="en-US" b="1" dirty="0" smtClean="0"/>
              <a:t>原理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56" y="920749"/>
            <a:ext cx="76485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9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02 A/B test</a:t>
            </a:r>
            <a:r>
              <a:rPr lang="zh-CN" altLang="en-US" b="1" dirty="0"/>
              <a:t>工作</a:t>
            </a:r>
            <a:r>
              <a:rPr lang="zh-CN" altLang="en-US" b="1" dirty="0" smtClean="0"/>
              <a:t>原理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23740" y="1943943"/>
            <a:ext cx="9145016" cy="277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当用户访问页面时，如上图灰色按钮（控件）和箭头所指红色按钮（变体），利用埋点可以对用户点击行为数据采集，并通过统计引擎进行分析（进行</a:t>
            </a: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 test</a:t>
            </a:r>
            <a:r>
              <a:rPr lang="zh-CN" altLang="en-US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）。然后，就可以确定这种更改（变体）对于给定的指标（这里是用户点击率</a:t>
            </a: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CTR</a:t>
            </a:r>
            <a:r>
              <a:rPr lang="zh-CN" altLang="en-US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）产生正向影响，负向影响或无影响。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78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02 A/B test</a:t>
            </a:r>
            <a:r>
              <a:rPr lang="zh-CN" altLang="en-US" b="1" dirty="0"/>
              <a:t>工作</a:t>
            </a:r>
            <a:r>
              <a:rPr lang="zh-CN" altLang="en-US" b="1" dirty="0" smtClean="0"/>
              <a:t>原理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244" y="1444624"/>
            <a:ext cx="7620000" cy="35909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9560" y="753533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pingfang SC"/>
              </a:rPr>
              <a:t>实验数据结果可能如下：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83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03 </a:t>
            </a:r>
            <a:r>
              <a:rPr lang="zh-CN" altLang="en-US" b="1" dirty="0"/>
              <a:t>进行</a:t>
            </a:r>
            <a:r>
              <a:rPr lang="en-US" altLang="zh-CN" b="1" dirty="0"/>
              <a:t>A/B test</a:t>
            </a:r>
            <a:r>
              <a:rPr lang="zh-CN" altLang="en-US" b="1" dirty="0"/>
              <a:t>的目的是</a:t>
            </a:r>
            <a:r>
              <a:rPr lang="zh-CN" altLang="en-US" b="1" dirty="0" smtClean="0"/>
              <a:t>什么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1" y="1611312"/>
            <a:ext cx="90011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7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94" y="1295871"/>
            <a:ext cx="9563100" cy="4229100"/>
          </a:xfrm>
          <a:prstGeom prst="rect">
            <a:avLst/>
          </a:prstGeom>
        </p:spPr>
      </p:pic>
      <p:sp>
        <p:nvSpPr>
          <p:cNvPr id="7" name="文本占位符 1"/>
          <p:cNvSpPr txBox="1">
            <a:spLocks/>
          </p:cNvSpPr>
          <p:nvPr/>
        </p:nvSpPr>
        <p:spPr>
          <a:xfrm>
            <a:off x="503660" y="143743"/>
            <a:ext cx="5400600" cy="288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bg1">
                    <a:lumMod val="50000"/>
                  </a:schemeClr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  <a:cs typeface="Arial Unicode MS" panose="020B0604020202020204" pitchFamily="34" charset="-122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b="1" dirty="0" smtClean="0"/>
              <a:t>03 </a:t>
            </a:r>
            <a:r>
              <a:rPr lang="zh-CN" altLang="en-US" b="1" dirty="0" smtClean="0"/>
              <a:t>进行</a:t>
            </a:r>
            <a:r>
              <a:rPr lang="en-US" altLang="zh-CN" b="1" dirty="0" smtClean="0"/>
              <a:t>A/B test</a:t>
            </a:r>
            <a:r>
              <a:rPr lang="zh-CN" altLang="en-US" b="1" dirty="0" smtClean="0"/>
              <a:t>的目的是什么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253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03 </a:t>
            </a:r>
            <a:r>
              <a:rPr lang="zh-CN" altLang="en-US" b="1" dirty="0"/>
              <a:t>进行</a:t>
            </a:r>
            <a:r>
              <a:rPr lang="en-US" altLang="zh-CN" b="1" dirty="0"/>
              <a:t>A/B test</a:t>
            </a:r>
            <a:r>
              <a:rPr lang="zh-CN" altLang="en-US" b="1" dirty="0"/>
              <a:t>的目的是什么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91692" y="1295871"/>
            <a:ext cx="993710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测试的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好处</a:t>
            </a:r>
            <a:endParaRPr lang="en-US" altLang="zh-CN" sz="28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 smtClean="0">
              <a:solidFill>
                <a:srgbClr val="FF0000"/>
              </a:solidFill>
              <a:latin typeface="pingfang SC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消除客户体验（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UX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）设计中不同意见的纷争，根据实际效果确定最佳方案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对比试验，找到问题的真正原因，提高产品设计和运营水平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建立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数据驱动、持续不断优化的闭环过程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A/B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测试，降低新产品或新特性的发布风险，为产品创新提供保障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5241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04 A/B test</a:t>
            </a:r>
            <a:r>
              <a:rPr lang="zh-CN" altLang="en-US" b="1" dirty="0" smtClean="0"/>
              <a:t>流程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31" y="906462"/>
            <a:ext cx="76676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9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04 A/B test</a:t>
            </a:r>
            <a:r>
              <a:rPr lang="zh-CN" altLang="en-US" b="1" dirty="0" smtClean="0"/>
              <a:t>流程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3660" y="935831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鹅厂实践</a:t>
            </a:r>
            <a:r>
              <a:rPr lang="en-US" altLang="zh-CN" dirty="0" smtClean="0"/>
              <a:t>-</a:t>
            </a:r>
            <a:r>
              <a:rPr lang="zh-CN" altLang="en-US" dirty="0"/>
              <a:t>基本</a:t>
            </a:r>
            <a:r>
              <a:rPr lang="zh-CN" altLang="en-US" dirty="0" smtClean="0"/>
              <a:t>步骤如下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900" y="664812"/>
            <a:ext cx="8900864" cy="53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80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04 A/B test</a:t>
            </a:r>
            <a:r>
              <a:rPr lang="zh-CN" altLang="en-US" b="1" dirty="0" smtClean="0"/>
              <a:t>流程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36502" y="1367879"/>
            <a:ext cx="813551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、分析实际业务场景，明确改进关键点，制定优化建议。</a:t>
            </a:r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、与项目经理确定优化目标，设计优化方案。</a:t>
            </a:r>
          </a:p>
          <a:p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、根据优化目标及方案搭建数据分析指标体系，明确数据口径。</a:t>
            </a:r>
          </a:p>
          <a:p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、由</a:t>
            </a:r>
            <a:r>
              <a:rPr lang="en-US" altLang="zh-CN" dirty="0"/>
              <a:t>UI</a:t>
            </a:r>
            <a:r>
              <a:rPr lang="zh-CN" altLang="en-US" dirty="0"/>
              <a:t>设计师或算法工程师根据方案完成样例开发，并设定数据埋点。</a:t>
            </a:r>
          </a:p>
          <a:p>
            <a:endParaRPr lang="zh-CN" altLang="en-US" dirty="0"/>
          </a:p>
          <a:p>
            <a:r>
              <a:rPr lang="en-US" altLang="zh-CN" dirty="0"/>
              <a:t>5</a:t>
            </a:r>
            <a:r>
              <a:rPr lang="zh-CN" altLang="en-US" dirty="0"/>
              <a:t>、调整流量池，在同一时间内对目标用户开始测试。</a:t>
            </a:r>
          </a:p>
          <a:p>
            <a:endParaRPr lang="zh-CN" altLang="en-US" dirty="0"/>
          </a:p>
          <a:p>
            <a:r>
              <a:rPr lang="en-US" altLang="zh-CN" dirty="0"/>
              <a:t>6</a:t>
            </a:r>
            <a:r>
              <a:rPr lang="zh-CN" altLang="en-US" dirty="0"/>
              <a:t>、根据时间进度及时收集数据，并根据数据情况调整流量池或重新进行测试。</a:t>
            </a:r>
          </a:p>
          <a:p>
            <a:endParaRPr lang="zh-CN" altLang="en-US" dirty="0"/>
          </a:p>
          <a:p>
            <a:r>
              <a:rPr lang="en-US" altLang="zh-CN" dirty="0"/>
              <a:t>7</a:t>
            </a:r>
            <a:r>
              <a:rPr lang="zh-CN" altLang="en-US" dirty="0"/>
              <a:t>、经过多次试验取得成功后，确定新版本功能，正式发布。</a:t>
            </a:r>
          </a:p>
        </p:txBody>
      </p:sp>
    </p:spTree>
    <p:extLst>
      <p:ext uri="{BB962C8B-B14F-4D97-AF65-F5344CB8AC3E}">
        <p14:creationId xmlns:p14="http://schemas.microsoft.com/office/powerpoint/2010/main" val="3687193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 smtClean="0"/>
              <a:t>04 </a:t>
            </a:r>
            <a:r>
              <a:rPr lang="zh-CN" altLang="en-US" b="1" dirty="0" smtClean="0"/>
              <a:t>基于</a:t>
            </a:r>
            <a:r>
              <a:rPr lang="en-US" altLang="zh-CN" b="1" dirty="0"/>
              <a:t>hash</a:t>
            </a:r>
            <a:r>
              <a:rPr lang="zh-CN" altLang="en-US" b="1" dirty="0"/>
              <a:t>的</a:t>
            </a:r>
            <a:r>
              <a:rPr lang="en-US" altLang="zh-CN" b="1" dirty="0"/>
              <a:t>AB</a:t>
            </a:r>
            <a:r>
              <a:rPr lang="zh-CN" altLang="en-US" b="1" dirty="0"/>
              <a:t>测试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35708" y="1295871"/>
            <a:ext cx="95770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具体的实现方法为：</a:t>
            </a:r>
          </a:p>
          <a:p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测试中需要将用户随机的分成两组，通过对每个用户唯一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id**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hash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运算，并对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hash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值对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取模**，便可以将用户分成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两组（分桶测试便是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hahs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取模）。</a:t>
            </a:r>
          </a:p>
          <a:p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每组采用不同的策略，并定义一个策略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Id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，跟随不同的策略埋点，在最后回收策略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Id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，最后通过策略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id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两种策略的好坏。</a:t>
            </a:r>
          </a:p>
        </p:txBody>
      </p:sp>
    </p:spTree>
    <p:extLst>
      <p:ext uri="{BB962C8B-B14F-4D97-AF65-F5344CB8AC3E}">
        <p14:creationId xmlns:p14="http://schemas.microsoft.com/office/powerpoint/2010/main" val="4173774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05 A/B test</a:t>
            </a:r>
            <a:r>
              <a:rPr lang="zh-CN" altLang="en-US" b="1" dirty="0"/>
              <a:t>简例（结合</a:t>
            </a:r>
            <a:r>
              <a:rPr lang="en-US" altLang="zh-CN" b="1" dirty="0"/>
              <a:t>Python</a:t>
            </a:r>
            <a:r>
              <a:rPr lang="zh-CN" altLang="en-US" b="1" dirty="0"/>
              <a:t>实现</a:t>
            </a:r>
            <a:r>
              <a:rPr lang="zh-CN" altLang="en-US" b="1" dirty="0" smtClean="0"/>
              <a:t>）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51732" y="1727919"/>
            <a:ext cx="914501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b="1" dirty="0" smtClean="0">
                <a:solidFill>
                  <a:srgbClr val="FF0000"/>
                </a:solidFill>
                <a:latin typeface="pingfang SC"/>
              </a:rPr>
              <a:t>实例</a:t>
            </a:r>
            <a:r>
              <a:rPr lang="zh-CN" altLang="en-US" sz="2800" b="1" dirty="0">
                <a:solidFill>
                  <a:srgbClr val="FF0000"/>
                </a:solidFill>
                <a:latin typeface="pingfang SC"/>
              </a:rPr>
              <a:t>背景</a:t>
            </a:r>
            <a:r>
              <a:rPr lang="zh-CN" altLang="en-US" sz="2800" b="1" dirty="0" smtClean="0">
                <a:solidFill>
                  <a:srgbClr val="FF0000"/>
                </a:solidFill>
                <a:latin typeface="pingfang SC"/>
              </a:rPr>
              <a:t>简述</a:t>
            </a:r>
            <a:endParaRPr lang="en-US" altLang="zh-CN" sz="2800" b="1" dirty="0" smtClean="0">
              <a:solidFill>
                <a:srgbClr val="FF0000"/>
              </a:solidFill>
              <a:latin typeface="pingfang SC"/>
            </a:endParaRPr>
          </a:p>
          <a:p>
            <a:pPr marL="514350" indent="-514350">
              <a:buAutoNum type="arabicPeriod"/>
            </a:pPr>
            <a:endParaRPr lang="zh-CN" altLang="en-US" sz="2800" dirty="0">
              <a:solidFill>
                <a:srgbClr val="FF0000"/>
              </a:solidFill>
              <a:latin typeface="pingfang SC"/>
            </a:endParaRPr>
          </a:p>
          <a:p>
            <a:r>
              <a:rPr lang="zh-CN" altLang="en-US" sz="2400" dirty="0">
                <a:solidFill>
                  <a:srgbClr val="333333"/>
                </a:solidFill>
                <a:latin typeface="pingfang SC"/>
              </a:rPr>
              <a:t>某司「</a:t>
            </a:r>
            <a:r>
              <a:rPr lang="zh-CN" altLang="en-US" sz="2400" b="1" dirty="0">
                <a:solidFill>
                  <a:srgbClr val="333333"/>
                </a:solidFill>
                <a:latin typeface="pingfang SC"/>
              </a:rPr>
              <a:t>猜你想看</a:t>
            </a:r>
            <a:r>
              <a:rPr lang="zh-CN" altLang="en-US" sz="2400" dirty="0">
                <a:solidFill>
                  <a:srgbClr val="333333"/>
                </a:solidFill>
                <a:latin typeface="pingfang SC"/>
              </a:rPr>
              <a:t>」业务接入了的新推荐算法，新推荐策略算法开发完成后，在全流量上线之前要评估新推荐策略的优劣，所用的评估方法是</a:t>
            </a:r>
            <a:r>
              <a:rPr lang="en-US" altLang="zh-CN" sz="2400" dirty="0">
                <a:solidFill>
                  <a:srgbClr val="333333"/>
                </a:solidFill>
                <a:latin typeface="pingfang SC"/>
              </a:rPr>
              <a:t>A/B test</a:t>
            </a:r>
            <a:r>
              <a:rPr lang="zh-CN" altLang="en-US" sz="2400" dirty="0">
                <a:solidFill>
                  <a:srgbClr val="333333"/>
                </a:solidFill>
                <a:latin typeface="pingfang SC"/>
              </a:rPr>
              <a:t>，具体做法是在全量中抽样出两份小流量，分别走新推荐策略分支和旧推荐策略分支，通过对比这两份流量下的指标（这里按用户点击衡量）的差异，可以评估出新策略的优劣，进而决定新策略是否全适合全流量。</a:t>
            </a:r>
            <a:endParaRPr lang="zh-CN" altLang="en-US" sz="24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943325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05 A/B test</a:t>
            </a:r>
            <a:r>
              <a:rPr lang="zh-CN" altLang="en-US" b="1" dirty="0"/>
              <a:t>简例（结合</a:t>
            </a:r>
            <a:r>
              <a:rPr lang="en-US" altLang="zh-CN" b="1" dirty="0"/>
              <a:t>Python</a:t>
            </a:r>
            <a:r>
              <a:rPr lang="zh-CN" altLang="en-US" b="1" dirty="0"/>
              <a:t>实现</a:t>
            </a:r>
            <a:r>
              <a:rPr lang="zh-CN" altLang="en-US" b="1" dirty="0" smtClean="0"/>
              <a:t>）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51732" y="1727919"/>
            <a:ext cx="9145016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 test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endParaRPr lang="en-US" altLang="zh-CN" sz="28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 smtClean="0">
              <a:solidFill>
                <a:srgbClr val="FF0000"/>
              </a:solidFill>
              <a:latin typeface="pingfang SC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指标：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CTR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变体：新的推荐策略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假设：新的推荐策略可以带来更多的用户点击。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收集数据：以下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组数据为我们想验证的新的策略结果数据，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组数据为旧的策略结果数据。均为伪造数据。</a:t>
            </a:r>
          </a:p>
        </p:txBody>
      </p:sp>
    </p:spTree>
    <p:extLst>
      <p:ext uri="{BB962C8B-B14F-4D97-AF65-F5344CB8AC3E}">
        <p14:creationId xmlns:p14="http://schemas.microsoft.com/office/powerpoint/2010/main" val="270235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05 A/B test</a:t>
            </a:r>
            <a:r>
              <a:rPr lang="zh-CN" altLang="en-US" b="1" dirty="0"/>
              <a:t>简例（结合</a:t>
            </a:r>
            <a:r>
              <a:rPr lang="en-US" altLang="zh-CN" b="1" dirty="0"/>
              <a:t>Python</a:t>
            </a:r>
            <a:r>
              <a:rPr lang="zh-CN" altLang="en-US" b="1" dirty="0"/>
              <a:t>实现</a:t>
            </a:r>
            <a:r>
              <a:rPr lang="zh-CN" altLang="en-US" b="1" dirty="0" smtClean="0"/>
              <a:t>）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51732" y="1727919"/>
            <a:ext cx="9145016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3. </a:t>
            </a:r>
            <a:r>
              <a:rPr lang="zh-CN" altLang="en-US" sz="2800" b="1" dirty="0">
                <a:solidFill>
                  <a:srgbClr val="FF0000"/>
                </a:solidFill>
              </a:rPr>
              <a:t>分析结果（</a:t>
            </a:r>
            <a:r>
              <a:rPr lang="en-US" altLang="zh-CN" sz="2800" b="1" dirty="0">
                <a:solidFill>
                  <a:srgbClr val="FF0000"/>
                </a:solidFill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zh-CN" altLang="en-US" sz="2800" dirty="0" smtClean="0">
              <a:solidFill>
                <a:srgbClr val="FF0000"/>
              </a:solidFill>
              <a:latin typeface="pingfang SC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指标：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CTR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变体：新的推荐策略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假设：新的推荐策略可以带来更多的用户点击。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收集数据：以下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组数据为我们想验证的新的策略结果数据，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组数据为旧的策略结果数据。均为伪造数据。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180" y="164389"/>
            <a:ext cx="6199981" cy="358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5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06 A/B test</a:t>
            </a:r>
            <a:r>
              <a:rPr lang="zh-CN" altLang="en-US" b="1" dirty="0"/>
              <a:t>需要注意的点</a:t>
            </a:r>
            <a:r>
              <a:rPr lang="zh-CN" altLang="en-US" dirty="0"/>
              <a:t>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35708" y="1367879"/>
            <a:ext cx="95770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先验性：通过低代价，小流量的实验，在推广到全流量的用户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并行性：不同版本、不同方案在验证时，要保重其他条件都一致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分流科学性和数据科学性：分流科学是指对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两组分配的数据要一致，数据科学性是指不能直接用均值转化率、均值点击率来进行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AB test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决策，而是要通过置信区间、假设检验、收敛程度来得出结论。</a:t>
            </a:r>
          </a:p>
        </p:txBody>
      </p:sp>
    </p:spTree>
    <p:extLst>
      <p:ext uri="{BB962C8B-B14F-4D97-AF65-F5344CB8AC3E}">
        <p14:creationId xmlns:p14="http://schemas.microsoft.com/office/powerpoint/2010/main" val="21724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b="1" dirty="0"/>
              <a:t>07 A/B test</a:t>
            </a:r>
            <a:r>
              <a:rPr lang="zh-CN" altLang="en-US" b="1" dirty="0"/>
              <a:t>中要知道的统计学</a:t>
            </a:r>
            <a:r>
              <a:rPr lang="zh-CN" altLang="en-US" b="1" dirty="0" smtClean="0"/>
              <a:t>知识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35708" y="1007839"/>
            <a:ext cx="9577064" cy="4437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点估计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区间估计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中心极限定理（样本估计总体的核心，可以对比看一下大数定理）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假设检验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其中假设检验部分为核心，其他辅助更好的理解该部分内容，比如区间估计可以理解为正向的推断统计，假设检验可以理解为反证的推断统计，关于假设检验本身，你可能还需要知道小概率事件、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分布、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分布、卡方分布、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值、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alpha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错误、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belta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错误等内容。</a:t>
            </a:r>
          </a:p>
        </p:txBody>
      </p:sp>
    </p:spTree>
    <p:extLst>
      <p:ext uri="{BB962C8B-B14F-4D97-AF65-F5344CB8AC3E}">
        <p14:creationId xmlns:p14="http://schemas.microsoft.com/office/powerpoint/2010/main" val="1904798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参考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05162" y="1164512"/>
            <a:ext cx="698139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cloud.tencent.com/developer/article/1496302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>
                <a:hlinkClick r:id="rId3"/>
              </a:rPr>
              <a:t>https://www.zhihu.com/question/20045543</a:t>
            </a:r>
            <a:endParaRPr lang="zh-CN" altLang="en-US" dirty="0"/>
          </a:p>
          <a:p>
            <a:endParaRPr lang="en-US" altLang="zh-CN" dirty="0" smtClean="0"/>
          </a:p>
          <a:p>
            <a:r>
              <a:rPr lang="en-US" altLang="zh-CN" dirty="0">
                <a:hlinkClick r:id="rId4"/>
              </a:rPr>
              <a:t>https://blog.leapoahead.com/2015/08/27/introduction-to-ab-testing/</a:t>
            </a:r>
            <a:endParaRPr lang="zh-CN" altLang="en-US" dirty="0"/>
          </a:p>
          <a:p>
            <a:endParaRPr lang="en-US" altLang="zh-CN" dirty="0" smtClean="0"/>
          </a:p>
          <a:p>
            <a:r>
              <a:rPr lang="en-US" altLang="zh-CN" dirty="0"/>
              <a:t>https://www.cnblogs.com/typeck/p/11808187.html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56896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25556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</TotalTime>
  <Words>1032</Words>
  <Application>Microsoft Office PowerPoint</Application>
  <PresentationFormat>自定义</PresentationFormat>
  <Paragraphs>88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 Unicode MS</vt:lpstr>
      <vt:lpstr>Noto Sans S Chinese Regular</vt:lpstr>
      <vt:lpstr>pingfang SC</vt:lpstr>
      <vt:lpstr>WenQuanYi Micro Hei</vt:lpstr>
      <vt:lpstr>黑体</vt:lpstr>
      <vt:lpstr>思源黑体 CN Bold</vt:lpstr>
      <vt:lpstr>宋体</vt:lpstr>
      <vt:lpstr>Arial</vt:lpstr>
      <vt:lpstr>Calibri</vt:lpstr>
      <vt:lpstr>Calibri Light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opinco</dc:creator>
  <cp:lastModifiedBy>宁时贤_集团</cp:lastModifiedBy>
  <cp:revision>65</cp:revision>
  <dcterms:created xsi:type="dcterms:W3CDTF">2018-01-19T06:21:27Z</dcterms:created>
  <dcterms:modified xsi:type="dcterms:W3CDTF">2020-09-14T02:58:07Z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2052-8.1.0.2424</vt:lpwstr>
  </property>
</Properties>
</file>